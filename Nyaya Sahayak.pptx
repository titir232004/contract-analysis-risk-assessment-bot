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he Seasons" charset="1" panose="00000000000000000000"/>
      <p:regular r:id="rId18"/>
    </p:embeddedFont>
    <p:embeddedFont>
      <p:font typeface="TAN Pearl" charset="1" panose="00000000000000000000"/>
      <p:regular r:id="rId19"/>
    </p:embeddedFont>
    <p:embeddedFont>
      <p:font typeface="Cormorant Garamond Bold" charset="1" panose="00000800000000000000"/>
      <p:regular r:id="rId20"/>
    </p:embeddedFont>
    <p:embeddedFont>
      <p:font typeface="Cormorant Garamond" charset="1" panose="00000500000000000000"/>
      <p:regular r:id="rId21"/>
    </p:embeddedFont>
    <p:embeddedFont>
      <p:font typeface="Fira Sans" charset="1" panose="020B050305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9850" cy="10287000"/>
            <a:chOff x="0" y="0"/>
            <a:chExt cx="1690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0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90825">
                  <a:moveTo>
                    <a:pt x="0" y="0"/>
                  </a:moveTo>
                  <a:lnTo>
                    <a:pt x="1690825" y="0"/>
                  </a:lnTo>
                  <a:lnTo>
                    <a:pt x="169082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9082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7191375" cy="8966200"/>
            <a:chOff x="0" y="0"/>
            <a:chExt cx="1614733" cy="20132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14733" cy="2013248"/>
            </a:xfrm>
            <a:custGeom>
              <a:avLst/>
              <a:gdLst/>
              <a:ahLst/>
              <a:cxnLst/>
              <a:rect r="r" b="b" t="t" l="l"/>
              <a:pathLst>
                <a:path h="2013248" w="1614733">
                  <a:moveTo>
                    <a:pt x="0" y="0"/>
                  </a:moveTo>
                  <a:lnTo>
                    <a:pt x="1614733" y="0"/>
                  </a:lnTo>
                  <a:lnTo>
                    <a:pt x="1614733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l="0" t="-128" r="0" b="-12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097862" y="0"/>
            <a:ext cx="190138" cy="10287000"/>
            <a:chOff x="0" y="0"/>
            <a:chExt cx="50077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0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50077">
                  <a:moveTo>
                    <a:pt x="0" y="0"/>
                  </a:moveTo>
                  <a:lnTo>
                    <a:pt x="50077" y="0"/>
                  </a:lnTo>
                  <a:lnTo>
                    <a:pt x="50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007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1562100"/>
            <a:ext cx="6886575" cy="4086860"/>
            <a:chOff x="0" y="0"/>
            <a:chExt cx="9182100" cy="544914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4336627"/>
              <a:ext cx="9182100" cy="1112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Your Personal AI Legal Consultant – Fast, Private, &amp; Accurate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182100" cy="3728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60"/>
                </a:lnSpc>
              </a:pPr>
              <a:r>
                <a:rPr lang="en-US" sz="9600">
                  <a:solidFill>
                    <a:srgbClr val="22C55E"/>
                  </a:solidFill>
                  <a:latin typeface="TAN Pearl"/>
                  <a:ea typeface="TAN Pearl"/>
                  <a:cs typeface="TAN Pearl"/>
                  <a:sym typeface="TAN Pearl"/>
                </a:rPr>
                <a:t>Nyaya Sahayak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176473" y="7457468"/>
            <a:ext cx="3082628" cy="182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2571">
                <a:solidFill>
                  <a:srgbClr val="FFFFFF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TEAM E</a:t>
            </a:r>
          </a:p>
          <a:p>
            <a:pPr algn="ctr">
              <a:lnSpc>
                <a:spcPts val="3600"/>
              </a:lnSpc>
            </a:pPr>
            <a:r>
              <a:rPr lang="en-US" sz="257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CHANDREYI GHOSH</a:t>
            </a:r>
          </a:p>
          <a:p>
            <a:pPr algn="ctr">
              <a:lnSpc>
                <a:spcPts val="3600"/>
              </a:lnSpc>
            </a:pPr>
            <a:r>
              <a:rPr lang="en-US" sz="257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ROCHIT R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57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HIDA FATHIMA P 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0AE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02397" y="10287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67994" y="666750"/>
            <a:ext cx="11300156" cy="7332324"/>
            <a:chOff x="0" y="0"/>
            <a:chExt cx="15066874" cy="977643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4056563"/>
              <a:ext cx="13017500" cy="5719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 spc="222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Cor</a:t>
              </a:r>
              <a:r>
                <a:rPr lang="en-US" sz="2199" spc="222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e Issues:</a:t>
              </a:r>
            </a:p>
            <a:p>
              <a:pPr algn="l" marL="0" indent="0" lvl="0">
                <a:lnSpc>
                  <a:spcPts val="3079"/>
                </a:lnSpc>
              </a:pP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 spc="222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High Cost: Traditional legal review costs ₹5,000–₹15,000 per hour.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 spc="222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The "Legalese" Wall: SMEs struggle to understand complex clauses (Indemnity, Liability).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 spc="222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Hidden Risks: Unfavorable terms buried in long PDFs lead to financial loss.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 spc="222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Indian Context: Lack of support for Hindi/English bilingual contracts and specific Indian Labor Laws.</a:t>
              </a:r>
            </a:p>
            <a:p>
              <a:pPr algn="l" marL="0" indent="0" lvl="0">
                <a:lnSpc>
                  <a:spcPts val="3079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1674" y="-28575"/>
              <a:ext cx="14935200" cy="164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22C55E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The Problem Statement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56227" y="2047875"/>
              <a:ext cx="12992948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A0AEC0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LEG</a:t>
              </a:r>
              <a:r>
                <a:rPr lang="en-US" sz="2600">
                  <a:solidFill>
                    <a:srgbClr val="A0AEC0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AL COMPLEXITY IS A BARRIER TO GROWTH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0AE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888711" y="1226366"/>
            <a:ext cx="6550751" cy="6550751"/>
          </a:xfrm>
          <a:custGeom>
            <a:avLst/>
            <a:gdLst/>
            <a:ahLst/>
            <a:cxnLst/>
            <a:rect r="r" b="b" t="t" l="l"/>
            <a:pathLst>
              <a:path h="6550751" w="6550751">
                <a:moveTo>
                  <a:pt x="0" y="0"/>
                </a:moveTo>
                <a:lnTo>
                  <a:pt x="6550752" y="0"/>
                </a:lnTo>
                <a:lnTo>
                  <a:pt x="6550752" y="6550751"/>
                </a:lnTo>
                <a:lnTo>
                  <a:pt x="0" y="655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67994" y="666750"/>
            <a:ext cx="11300156" cy="7296383"/>
            <a:chOff x="0" y="0"/>
            <a:chExt cx="15066874" cy="972851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4044921"/>
              <a:ext cx="13017500" cy="5683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7"/>
                </a:lnSpc>
              </a:pPr>
              <a:r>
                <a:rPr lang="en-US" sz="2199" spc="213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Val</a:t>
              </a:r>
              <a:r>
                <a:rPr lang="en-US" sz="2199" spc="213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ue Proposition:</a:t>
              </a:r>
            </a:p>
            <a:p>
              <a:pPr algn="l" marL="0" indent="0" lvl="0">
                <a:lnSpc>
                  <a:spcPts val="3387"/>
                </a:lnSpc>
              </a:pPr>
            </a:p>
            <a:p>
              <a:pPr algn="l" marL="474979" indent="-237490" lvl="1">
                <a:lnSpc>
                  <a:spcPts val="3387"/>
                </a:lnSpc>
                <a:buFont typeface="Arial"/>
                <a:buChar char="•"/>
              </a:pPr>
              <a:r>
                <a:rPr lang="en-US" sz="2199" spc="213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Instant Analysis: Processes contracts in &lt; 2 minutes.</a:t>
              </a:r>
            </a:p>
            <a:p>
              <a:pPr algn="l" marL="474979" indent="-237490" lvl="1">
                <a:lnSpc>
                  <a:spcPts val="3387"/>
                </a:lnSpc>
                <a:buFont typeface="Arial"/>
                <a:buChar char="•"/>
              </a:pPr>
              <a:r>
                <a:rPr lang="en-US" sz="2199" spc="213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Risk</a:t>
              </a:r>
              <a:r>
                <a:rPr lang="en-US" sz="2199" spc="213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 Scoring: A quantified 0-100 "Health Score" for every document.</a:t>
              </a:r>
            </a:p>
            <a:p>
              <a:pPr algn="l" marL="474979" indent="-237490" lvl="1">
                <a:lnSpc>
                  <a:spcPts val="3387"/>
                </a:lnSpc>
                <a:buFont typeface="Arial"/>
                <a:buChar char="•"/>
              </a:pPr>
              <a:r>
                <a:rPr lang="en-US" sz="2199" spc="213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Pla</a:t>
              </a:r>
              <a:r>
                <a:rPr lang="en-US" sz="2199" spc="213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in Language: Translates legal jargon into simple business English/Hindi.</a:t>
              </a:r>
            </a:p>
            <a:p>
              <a:pPr algn="l" marL="474979" indent="-237490" lvl="1">
                <a:lnSpc>
                  <a:spcPts val="3387"/>
                </a:lnSpc>
                <a:buFont typeface="Arial"/>
                <a:buChar char="•"/>
              </a:pPr>
              <a:r>
                <a:rPr lang="en-US" sz="2199" spc="213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Actionable Advice: Doesn't just find problems; suggests Safer Alternatives.</a:t>
              </a:r>
            </a:p>
            <a:p>
              <a:pPr algn="l" marL="0" indent="0" lvl="0">
                <a:lnSpc>
                  <a:spcPts val="3387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1674" y="-28575"/>
              <a:ext cx="14935200" cy="1666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22C55E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Our</a:t>
              </a:r>
              <a:r>
                <a:rPr lang="en-US" sz="8000">
                  <a:solidFill>
                    <a:srgbClr val="22C55E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 Solution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56227" y="2064808"/>
              <a:ext cx="12992948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A0AEC0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NY</a:t>
              </a:r>
              <a:r>
                <a:rPr lang="en-US" sz="2600">
                  <a:solidFill>
                    <a:srgbClr val="A0AEC0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AYA SAHAYAK – LEGAL AID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172950" y="0"/>
            <a:ext cx="6115050" cy="10287000"/>
          </a:xfrm>
          <a:prstGeom prst="rect">
            <a:avLst/>
          </a:prstGeom>
          <a:solidFill>
            <a:srgbClr val="6366F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2335598" y="488865"/>
            <a:ext cx="5789755" cy="9245117"/>
          </a:xfrm>
          <a:custGeom>
            <a:avLst/>
            <a:gdLst/>
            <a:ahLst/>
            <a:cxnLst/>
            <a:rect r="r" b="b" t="t" l="l"/>
            <a:pathLst>
              <a:path h="9245117" w="5789755">
                <a:moveTo>
                  <a:pt x="0" y="0"/>
                </a:moveTo>
                <a:lnTo>
                  <a:pt x="5789754" y="0"/>
                </a:lnTo>
                <a:lnTo>
                  <a:pt x="5789754" y="9245117"/>
                </a:lnTo>
                <a:lnTo>
                  <a:pt x="0" y="9245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2826" y="458153"/>
            <a:ext cx="8324850" cy="235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Methodolog</a:t>
            </a: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y &amp;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2826" y="3172778"/>
            <a:ext cx="832485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A0AEC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Understanding How Our AI Enhances Legal Processes Effortlessly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029200"/>
            <a:ext cx="9962745" cy="377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sz="2100" spc="184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Wo</a:t>
            </a:r>
            <a:r>
              <a:rPr lang="en-US" sz="2100" spc="184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rkflow:</a:t>
            </a:r>
          </a:p>
          <a:p>
            <a:pPr algn="l" marL="0" indent="0" lvl="0">
              <a:lnSpc>
                <a:spcPts val="3360"/>
              </a:lnSpc>
            </a:pPr>
          </a:p>
          <a:p>
            <a:pPr algn="l" marL="453392" indent="-226696" lvl="1">
              <a:lnSpc>
                <a:spcPts val="3360"/>
              </a:lnSpc>
              <a:buAutoNum type="arabicPeriod" startAt="1"/>
            </a:pPr>
            <a:r>
              <a:rPr lang="en-US" sz="2100" spc="184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Ingestion: Supports PDF/DOCX via pdfplumber.</a:t>
            </a:r>
          </a:p>
          <a:p>
            <a:pPr algn="l" marL="453392" indent="-226696" lvl="1">
              <a:lnSpc>
                <a:spcPts val="3360"/>
              </a:lnSpc>
              <a:buAutoNum type="arabicPeriod" startAt="1"/>
            </a:pPr>
            <a:r>
              <a:rPr lang="en-US" sz="2100" spc="184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Smart Segmentation: Uses Regex &amp; SpaCy (clause_splitter.py) to break documents into semantic chunks, not just lines.</a:t>
            </a:r>
          </a:p>
          <a:p>
            <a:pPr algn="l" marL="453392" indent="-226696" lvl="1">
              <a:lnSpc>
                <a:spcPts val="3360"/>
              </a:lnSpc>
              <a:buAutoNum type="arabicPeriod" startAt="1"/>
            </a:pPr>
            <a:r>
              <a:rPr lang="en-US" sz="2100" spc="184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GenAI Analysis: GPT-4 Agent (clause_explainer.py) acts as a legal expert for each chunk.</a:t>
            </a:r>
          </a:p>
          <a:p>
            <a:pPr algn="l" marL="453392" indent="-226696" lvl="1">
              <a:lnSpc>
                <a:spcPts val="3360"/>
              </a:lnSpc>
              <a:buAutoNum type="arabicPeriod" startAt="1"/>
            </a:pPr>
            <a:r>
              <a:rPr lang="en-US" sz="2100" spc="184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Scoring Logic: Mathematical weighting system (risk_scorer.py) assigns severity (High=15, Med=8, Low=3).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172950" y="0"/>
            <a:ext cx="6115050" cy="10287000"/>
          </a:xfrm>
          <a:prstGeom prst="rect">
            <a:avLst/>
          </a:prstGeom>
          <a:solidFill>
            <a:srgbClr val="6366F1"/>
          </a:solidFill>
        </p:spPr>
      </p:sp>
      <p:grpSp>
        <p:nvGrpSpPr>
          <p:cNvPr name="Group 3" id="3"/>
          <p:cNvGrpSpPr/>
          <p:nvPr/>
        </p:nvGrpSpPr>
        <p:grpSpPr>
          <a:xfrm rot="-10800000">
            <a:off x="0" y="0"/>
            <a:ext cx="189775" cy="10287000"/>
            <a:chOff x="0" y="0"/>
            <a:chExt cx="49982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982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994573" y="2257104"/>
            <a:ext cx="9894405" cy="5231667"/>
          </a:xfrm>
          <a:custGeom>
            <a:avLst/>
            <a:gdLst/>
            <a:ahLst/>
            <a:cxnLst/>
            <a:rect r="r" b="b" t="t" l="l"/>
            <a:pathLst>
              <a:path h="5231667" w="9894405">
                <a:moveTo>
                  <a:pt x="0" y="0"/>
                </a:moveTo>
                <a:lnTo>
                  <a:pt x="9894405" y="0"/>
                </a:lnTo>
                <a:lnTo>
                  <a:pt x="9894405" y="5231667"/>
                </a:lnTo>
                <a:lnTo>
                  <a:pt x="0" y="5231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01547"/>
            <a:ext cx="8324850" cy="124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K</a:t>
            </a:r>
            <a:r>
              <a:rPr lang="en-US" sz="8000" strike="noStrike" u="none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e</a:t>
            </a:r>
            <a:r>
              <a:rPr lang="en-US" sz="8000" strike="noStrike" u="none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y</a:t>
            </a:r>
            <a:r>
              <a:rPr lang="en-US" sz="8000" strike="noStrike" u="none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 </a:t>
            </a:r>
            <a:r>
              <a:rPr lang="en-US" sz="8000" strike="noStrike" u="none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F</a:t>
            </a:r>
            <a:r>
              <a:rPr lang="en-US" sz="8000" strike="noStrike" u="none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e</a:t>
            </a:r>
            <a:r>
              <a:rPr lang="en-US" sz="8000" strike="noStrike" u="none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a</a:t>
            </a:r>
            <a:r>
              <a:rPr lang="en-US" sz="8000" strike="noStrike" u="none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t</a:t>
            </a:r>
            <a:r>
              <a:rPr lang="en-US" sz="8000" strike="noStrike" u="none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4729" y="2758062"/>
            <a:ext cx="6430810" cy="5615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5810" indent="-252905" lvl="1">
              <a:lnSpc>
                <a:spcPts val="3748"/>
              </a:lnSpc>
              <a:buFont typeface="Arial"/>
              <a:buChar char="•"/>
            </a:pPr>
            <a:r>
              <a:rPr lang="en-US" sz="2342" spc="288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Dynamic Risk Dashboard: Interactive Pie Charts &amp; Bar Graphs (Plotly).</a:t>
            </a:r>
          </a:p>
          <a:p>
            <a:pPr algn="l" marL="505810" indent="-252905" lvl="1">
              <a:lnSpc>
                <a:spcPts val="3748"/>
              </a:lnSpc>
              <a:buFont typeface="Arial"/>
              <a:buChar char="•"/>
            </a:pPr>
            <a:r>
              <a:rPr lang="en-US" sz="2342" spc="288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Clause Insights: Expandable cards showing "Original Text" vs. "Plain Explanation".</a:t>
            </a:r>
          </a:p>
          <a:p>
            <a:pPr algn="l" marL="505810" indent="-252905" lvl="1">
              <a:lnSpc>
                <a:spcPts val="3748"/>
              </a:lnSpc>
              <a:buFont typeface="Arial"/>
              <a:buChar char="•"/>
            </a:pPr>
            <a:r>
              <a:rPr lang="en-US" sz="2342" spc="288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Audit Trail: Downloadable JSON/CSV reports for compliance.</a:t>
            </a:r>
          </a:p>
          <a:p>
            <a:pPr algn="l" marL="505810" indent="-252905" lvl="1">
              <a:lnSpc>
                <a:spcPts val="3748"/>
              </a:lnSpc>
              <a:buFont typeface="Arial"/>
              <a:buChar char="•"/>
            </a:pPr>
            <a:r>
              <a:rPr lang="en-US" sz="2342" spc="288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AI Chat Assistant: Built-in sidebar chat for instant Q&amp;A about the contract.</a:t>
            </a:r>
          </a:p>
          <a:p>
            <a:pPr algn="l">
              <a:lnSpc>
                <a:spcPts val="374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172950" y="0"/>
            <a:ext cx="6115050" cy="10287000"/>
          </a:xfrm>
          <a:prstGeom prst="rect">
            <a:avLst/>
          </a:prstGeom>
          <a:solidFill>
            <a:srgbClr val="6366F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1146224" y="2332041"/>
            <a:ext cx="6113076" cy="6113076"/>
          </a:xfrm>
          <a:custGeom>
            <a:avLst/>
            <a:gdLst/>
            <a:ahLst/>
            <a:cxnLst/>
            <a:rect r="r" b="b" t="t" l="l"/>
            <a:pathLst>
              <a:path h="6113076" w="6113076">
                <a:moveTo>
                  <a:pt x="0" y="0"/>
                </a:moveTo>
                <a:lnTo>
                  <a:pt x="6113076" y="0"/>
                </a:lnTo>
                <a:lnTo>
                  <a:pt x="6113076" y="6113077"/>
                </a:lnTo>
                <a:lnTo>
                  <a:pt x="0" y="6113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42826" y="337500"/>
            <a:ext cx="8324850" cy="7801497"/>
            <a:chOff x="0" y="0"/>
            <a:chExt cx="11099800" cy="1040199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11099800" cy="31358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22C55E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Innovation:</a:t>
              </a:r>
              <a:r>
                <a:rPr lang="en-US" sz="8000">
                  <a:solidFill>
                    <a:srgbClr val="22C55E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 The Clause Agent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70846"/>
              <a:ext cx="11099800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A0AEC0"/>
                  </a:solidFill>
                  <a:latin typeface="Fira Sans"/>
                  <a:ea typeface="Fira Sans"/>
                  <a:cs typeface="Fira Sans"/>
                  <a:sym typeface="Fira Sans"/>
                </a:rPr>
                <a:t>P</a:t>
              </a:r>
              <a:r>
                <a:rPr lang="en-US" sz="2600">
                  <a:solidFill>
                    <a:srgbClr val="A0AEC0"/>
                  </a:solidFill>
                  <a:latin typeface="Fira Sans"/>
                  <a:ea typeface="Fira Sans"/>
                  <a:cs typeface="Fira Sans"/>
                  <a:sym typeface="Fira Sans"/>
                </a:rPr>
                <a:t>recision over Generality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400736"/>
              <a:ext cx="11099800" cy="5001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2" indent="-226696" lvl="1">
                <a:lnSpc>
                  <a:spcPts val="3360"/>
                </a:lnSpc>
                <a:buFont typeface="Arial"/>
                <a:buChar char="•"/>
              </a:pPr>
              <a:r>
                <a:rPr lang="en-US" sz="2100" spc="359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M</a:t>
              </a:r>
              <a:r>
                <a:rPr lang="en-US" sz="2100" spc="359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ost tools summarize the whole PDF (losing details).</a:t>
              </a:r>
            </a:p>
            <a:p>
              <a:pPr algn="l" marL="453392" indent="-226696" lvl="1">
                <a:lnSpc>
                  <a:spcPts val="3360"/>
                </a:lnSpc>
                <a:buFont typeface="Arial"/>
                <a:buChar char="•"/>
              </a:pPr>
              <a:r>
                <a:rPr lang="en-US" sz="2100" spc="359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Ny</a:t>
              </a:r>
              <a:r>
                <a:rPr lang="en-US" sz="2100" spc="359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aya Sahayak uses a Clause-by-Clause approach.</a:t>
              </a:r>
            </a:p>
            <a:p>
              <a:pPr algn="l" marL="453392" indent="-226696" lvl="1">
                <a:lnSpc>
                  <a:spcPts val="3360"/>
                </a:lnSpc>
                <a:buFont typeface="Arial"/>
                <a:buChar char="•"/>
              </a:pPr>
              <a:r>
                <a:rPr lang="en-US" sz="2100" spc="359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We isolate specific liabilities (e.g., "Termination Clause") and check them against Indian Contract Act standards.</a:t>
              </a:r>
            </a:p>
            <a:p>
              <a:pPr algn="l" marL="453392" indent="-226696" lvl="1">
                <a:lnSpc>
                  <a:spcPts val="3360"/>
                </a:lnSpc>
                <a:buFont typeface="Arial"/>
                <a:buChar char="•"/>
              </a:pPr>
              <a:r>
                <a:rPr lang="en-US" sz="2100" spc="359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Output: </a:t>
              </a:r>
              <a:r>
                <a:rPr lang="en-US" sz="2100" spc="359">
                  <a:solidFill>
                    <a:srgbClr val="FFFFFF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Strict JSON structure ensuring no hallucinations.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1194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80"/>
              </a:lnSpc>
              <a:spcBef>
                <a:spcPct val="0"/>
              </a:spcBef>
            </a:pPr>
            <a:r>
              <a:rPr lang="en-US" sz="78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Tech Stack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24809"/>
            <a:ext cx="16718679" cy="7235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Frontend &amp; UI</a:t>
            </a:r>
          </a:p>
          <a:p>
            <a:pPr algn="l" marL="490092" indent="-245046" lvl="1">
              <a:lnSpc>
                <a:spcPts val="3177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Streamlit: Rapid UI development with secure, local session management (no external DB).</a:t>
            </a:r>
          </a:p>
          <a:p>
            <a:pPr algn="l" marL="490092" indent="-245046" lvl="1">
              <a:lnSpc>
                <a:spcPts val="3177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Plotly: Powers the interactive "Risk Health Meter" and dynamic charts.</a:t>
            </a:r>
          </a:p>
          <a:p>
            <a:pPr algn="l" marL="490092" indent="-245046" lvl="1">
              <a:lnSpc>
                <a:spcPts val="3177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Custom CSS: Professional Dark Mode aesthetic de</a:t>
            </a: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sign</a:t>
            </a: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ed for reduced eye strain.</a:t>
            </a:r>
          </a:p>
          <a:p>
            <a:pPr algn="l">
              <a:lnSpc>
                <a:spcPts val="3177"/>
              </a:lnSpc>
            </a:pPr>
          </a:p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Backend &amp; Processing</a:t>
            </a:r>
          </a:p>
          <a:p>
            <a:pPr algn="l" marL="490092" indent="-245046" lvl="1">
              <a:lnSpc>
                <a:spcPts val="3177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Python &amp; Pandas: Orchestrates logic and structures raw text into analyzable DataFrames.</a:t>
            </a:r>
          </a:p>
          <a:p>
            <a:pPr algn="l" marL="490092" indent="-245046" lvl="1">
              <a:lnSpc>
                <a:spcPts val="3177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Regex: Custo</a:t>
            </a: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m "Clause Splitter" engine to detect complex legal numbering (e.g., 1.1, Article IV) that standard NLP misses.</a:t>
            </a:r>
          </a:p>
          <a:p>
            <a:pPr algn="l">
              <a:lnSpc>
                <a:spcPts val="3177"/>
              </a:lnSpc>
            </a:pPr>
          </a:p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AI &amp; Intelligence</a:t>
            </a:r>
          </a:p>
          <a:p>
            <a:pPr algn="l" marL="490092" indent="-245046" lvl="1">
              <a:lnSpc>
                <a:spcPts val="3177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GPT-4o-mini: Selected for high legal reasoning capabilities and cost-efficiency.</a:t>
            </a:r>
          </a:p>
          <a:p>
            <a:pPr algn="l" marL="490092" indent="-245046" lvl="1">
              <a:lnSpc>
                <a:spcPts val="3177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Prompt Engineering: Uses "Persona-Based Prompting" (Senior Legal Consultant) to enforce strict JSON outputs and prevent hallucinations.</a:t>
            </a:r>
          </a:p>
          <a:p>
            <a:pPr algn="l">
              <a:lnSpc>
                <a:spcPts val="3177"/>
              </a:lnSpc>
            </a:pPr>
          </a:p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Data Ingestion</a:t>
            </a:r>
          </a:p>
          <a:p>
            <a:pPr algn="l" marL="490092" indent="-245046" lvl="1">
              <a:lnSpc>
                <a:spcPts val="3177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pdfplumber: Preserves layout and density for accurate header detection (Superior to PyPDF2).</a:t>
            </a:r>
          </a:p>
          <a:p>
            <a:pPr algn="l" marL="490092" indent="-245046" lvl="1">
              <a:lnSpc>
                <a:spcPts val="3177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python-docx: Robust parsing for editable Word documents.</a:t>
            </a:r>
          </a:p>
          <a:p>
            <a:pPr algn="l" marL="0" indent="0" lvl="0">
              <a:lnSpc>
                <a:spcPts val="3177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0AEC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172950" y="0"/>
            <a:ext cx="6115050" cy="10287000"/>
          </a:xfrm>
          <a:prstGeom prst="rect">
            <a:avLst/>
          </a:prstGeom>
          <a:solidFill>
            <a:srgbClr val="6366F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275674" y="3303146"/>
            <a:ext cx="8831208" cy="4305214"/>
          </a:xfrm>
          <a:custGeom>
            <a:avLst/>
            <a:gdLst/>
            <a:ahLst/>
            <a:cxnLst/>
            <a:rect r="r" b="b" t="t" l="l"/>
            <a:pathLst>
              <a:path h="4305214" w="8831208">
                <a:moveTo>
                  <a:pt x="0" y="0"/>
                </a:moveTo>
                <a:lnTo>
                  <a:pt x="8831208" y="0"/>
                </a:lnTo>
                <a:lnTo>
                  <a:pt x="8831208" y="4305214"/>
                </a:lnTo>
                <a:lnTo>
                  <a:pt x="0" y="4305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2826" y="308925"/>
            <a:ext cx="8324850" cy="235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The Preprocessing</a:t>
            </a: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 Pipeline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5183" y="3198371"/>
            <a:ext cx="8311393" cy="649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</a:pP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1. OCR</a:t>
            </a: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 Cleanup &amp; Normalization</a:t>
            </a:r>
          </a:p>
          <a:p>
            <a:pPr algn="l" marL="469074" indent="-234537" lvl="1">
              <a:lnSpc>
                <a:spcPts val="3476"/>
              </a:lnSpc>
              <a:buFont typeface="Arial"/>
              <a:buChar char="•"/>
            </a:pP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Acti</a:t>
            </a: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on: Fixes ligatures and merges broken words  using regex lookaheads.</a:t>
            </a:r>
          </a:p>
          <a:p>
            <a:pPr algn="l" marL="469074" indent="-234537" lvl="1">
              <a:lnSpc>
                <a:spcPts val="3476"/>
              </a:lnSpc>
              <a:buFont typeface="Arial"/>
              <a:buChar char="•"/>
            </a:pP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Why: Ensures clean, readable text for the AI.</a:t>
            </a:r>
          </a:p>
          <a:p>
            <a:pPr algn="l">
              <a:lnSpc>
                <a:spcPts val="3476"/>
              </a:lnSpc>
            </a:pP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2. Semantic Clause Segmentation</a:t>
            </a:r>
          </a:p>
          <a:p>
            <a:pPr algn="l" marL="469074" indent="-234537" lvl="1">
              <a:lnSpc>
                <a:spcPts val="3476"/>
              </a:lnSpc>
              <a:buFont typeface="Arial"/>
              <a:buChar char="•"/>
            </a:pP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Acti</a:t>
            </a: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on: Slices documents into atomic "Clause Chunks" using legal markers (Roman numerals, Headers).</a:t>
            </a:r>
          </a:p>
          <a:p>
            <a:pPr algn="l" marL="469074" indent="-234537" lvl="1">
              <a:lnSpc>
                <a:spcPts val="3476"/>
              </a:lnSpc>
              <a:buFont typeface="Arial"/>
              <a:buChar char="•"/>
            </a:pP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Why: Prevents "Lost in the Middle" errors common in large PDFs.</a:t>
            </a:r>
          </a:p>
          <a:p>
            <a:pPr algn="l">
              <a:lnSpc>
                <a:spcPts val="3476"/>
              </a:lnSpc>
            </a:pP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3. En</a:t>
            </a: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tity Ex</a:t>
            </a: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traction (NER)</a:t>
            </a:r>
          </a:p>
          <a:p>
            <a:pPr algn="l" marL="469074" indent="-234537" lvl="1">
              <a:lnSpc>
                <a:spcPts val="3476"/>
              </a:lnSpc>
              <a:buFont typeface="Arial"/>
              <a:buChar char="•"/>
            </a:pP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Tool: SpaCy (en_core_web_sm).</a:t>
            </a:r>
          </a:p>
          <a:p>
            <a:pPr algn="l" marL="469074" indent="-234537" lvl="1">
              <a:lnSpc>
                <a:spcPts val="3476"/>
              </a:lnSpc>
              <a:buFont typeface="Arial"/>
              <a:buChar char="•"/>
            </a:pP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Action</a:t>
            </a:r>
            <a:r>
              <a:rPr lang="en-US" sz="2172" spc="37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: Extracts "Context Anchors" (Dates, Parties, Amounts) upfront to ground specific obligations.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172950" y="0"/>
            <a:ext cx="6115050" cy="10287000"/>
          </a:xfrm>
          <a:prstGeom prst="rect">
            <a:avLst/>
          </a:prstGeom>
          <a:solidFill>
            <a:srgbClr val="6366F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799409" y="3415299"/>
            <a:ext cx="8258161" cy="4366502"/>
          </a:xfrm>
          <a:custGeom>
            <a:avLst/>
            <a:gdLst/>
            <a:ahLst/>
            <a:cxnLst/>
            <a:rect r="r" b="b" t="t" l="l"/>
            <a:pathLst>
              <a:path h="4366502" w="8258161">
                <a:moveTo>
                  <a:pt x="0" y="0"/>
                </a:moveTo>
                <a:lnTo>
                  <a:pt x="8258161" y="0"/>
                </a:lnTo>
                <a:lnTo>
                  <a:pt x="8258161" y="4366502"/>
                </a:lnTo>
                <a:lnTo>
                  <a:pt x="0" y="4366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2826" y="175575"/>
            <a:ext cx="8324850" cy="235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Ana</a:t>
            </a: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lysis 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566" y="2553653"/>
            <a:ext cx="9858273" cy="755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Hybrid Architecture:</a:t>
            </a:r>
          </a:p>
          <a:p>
            <a:pPr algn="l" marL="453392" indent="-226696" lvl="1">
              <a:lnSpc>
                <a:spcPts val="3360"/>
              </a:lnSpc>
              <a:buFont typeface="Arial"/>
              <a:buChar char="•"/>
            </a:pP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Combines Rule-Based Logic</a:t>
            </a: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 (for structure &amp; segmentation) with GenAI (GPT-4o) (for legal reasoning &amp; risk detection).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T</a:t>
            </a: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he "Clause-by-Clause" Loop:</a:t>
            </a:r>
          </a:p>
          <a:p>
            <a:pPr algn="l" marL="453392" indent="-226696" lvl="1">
              <a:lnSpc>
                <a:spcPts val="3360"/>
              </a:lnSpc>
              <a:buFont typeface="Arial"/>
              <a:buChar char="•"/>
            </a:pP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Iterate: Loops through isolated clause chunks to prevent hallucinations.</a:t>
            </a:r>
          </a:p>
          <a:p>
            <a:pPr algn="l" marL="453392" indent="-226696" lvl="1">
              <a:lnSpc>
                <a:spcPts val="3360"/>
              </a:lnSpc>
              <a:buFont typeface="Arial"/>
              <a:buChar char="•"/>
            </a:pP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Analyze: Prompts AI as a "Legal Expert" to check against Indian Contract Act standards.</a:t>
            </a:r>
          </a:p>
          <a:p>
            <a:pPr algn="l" marL="453392" indent="-226696" lvl="1">
              <a:lnSpc>
                <a:spcPts val="3360"/>
              </a:lnSpc>
              <a:buFont typeface="Arial"/>
              <a:buChar char="•"/>
            </a:pP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Str</a:t>
            </a: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ucture: Returns s</a:t>
            </a: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trict JSON data (Risk Level, Explanation, Alternative).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Scoring Logic:</a:t>
            </a:r>
          </a:p>
          <a:p>
            <a:pPr algn="l" marL="453392" indent="-226696" lvl="1">
              <a:lnSpc>
                <a:spcPts val="3360"/>
              </a:lnSpc>
              <a:buFont typeface="Arial"/>
              <a:buChar char="•"/>
            </a:pP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Weighted Algorithm: Assigns penalties (High=15, Med=8, Low=3) based on risk severity.</a:t>
            </a:r>
          </a:p>
          <a:p>
            <a:pPr algn="l" marL="453392" indent="-226696" lvl="1">
              <a:lnSpc>
                <a:spcPts val="3360"/>
              </a:lnSpc>
              <a:buFont typeface="Arial"/>
              <a:buChar char="•"/>
            </a:pPr>
            <a:r>
              <a:rPr lang="en-US" sz="2100" spc="3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Health Score: Generates a normalized 0-100 Document Safety Score for instant assessment.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172950" y="0"/>
            <a:ext cx="6115050" cy="10287000"/>
          </a:xfrm>
          <a:prstGeom prst="rect">
            <a:avLst/>
          </a:prstGeom>
          <a:solidFill>
            <a:srgbClr val="6366F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840998" y="1316035"/>
            <a:ext cx="7654931" cy="7654931"/>
          </a:xfrm>
          <a:custGeom>
            <a:avLst/>
            <a:gdLst/>
            <a:ahLst/>
            <a:cxnLst/>
            <a:rect r="r" b="b" t="t" l="l"/>
            <a:pathLst>
              <a:path h="7654931" w="7654931">
                <a:moveTo>
                  <a:pt x="0" y="0"/>
                </a:moveTo>
                <a:lnTo>
                  <a:pt x="7654930" y="0"/>
                </a:lnTo>
                <a:lnTo>
                  <a:pt x="7654930" y="7654930"/>
                </a:lnTo>
                <a:lnTo>
                  <a:pt x="0" y="7654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76533"/>
            <a:ext cx="8324850" cy="238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Compliance</a:t>
            </a: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 &amp;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56261"/>
            <a:ext cx="83248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A0AEC0"/>
                </a:solidFill>
                <a:latin typeface="Fira Sans"/>
                <a:ea typeface="Fira Sans"/>
                <a:cs typeface="Fira Sans"/>
                <a:sym typeface="Fira Sans"/>
              </a:rPr>
              <a:t>Ta</a:t>
            </a:r>
            <a:r>
              <a:rPr lang="en-US" sz="2600">
                <a:solidFill>
                  <a:srgbClr val="A0AEC0"/>
                </a:solidFill>
                <a:latin typeface="Fira Sans"/>
                <a:ea typeface="Fira Sans"/>
                <a:cs typeface="Fira Sans"/>
                <a:sym typeface="Fira Sans"/>
              </a:rPr>
              <a:t>ilored for the Indian Market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55309"/>
            <a:ext cx="8812298" cy="35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939" indent="-239970" lvl="1">
              <a:lnSpc>
                <a:spcPts val="3556"/>
              </a:lnSpc>
              <a:buFont typeface="Arial"/>
              <a:buChar char="•"/>
            </a:pPr>
            <a:r>
              <a:rPr lang="en-US" sz="2222" spc="302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C</a:t>
            </a:r>
            <a:r>
              <a:rPr lang="en-US" sz="2222" spc="302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ompliance: Checks against Indian Labor Laws &amp; Contract Act 1872.</a:t>
            </a:r>
          </a:p>
          <a:p>
            <a:pPr algn="l" marL="479939" indent="-239970" lvl="1">
              <a:lnSpc>
                <a:spcPts val="3556"/>
              </a:lnSpc>
              <a:buFont typeface="Arial"/>
              <a:buChar char="•"/>
            </a:pPr>
            <a:r>
              <a:rPr lang="en-US" sz="2222" spc="302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Impact:</a:t>
            </a:r>
          </a:p>
          <a:p>
            <a:pPr algn="l" marL="479939" indent="-239970" lvl="1">
              <a:lnSpc>
                <a:spcPts val="3556"/>
              </a:lnSpc>
              <a:buFont typeface="Arial"/>
              <a:buChar char="•"/>
            </a:pPr>
            <a:r>
              <a:rPr lang="en-US" sz="2222" spc="302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90%</a:t>
            </a:r>
            <a:r>
              <a:rPr lang="en-US" sz="2222" spc="302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 Time Reduction: From hours of reading to seconds of analysis.</a:t>
            </a:r>
          </a:p>
          <a:p>
            <a:pPr algn="l" marL="479939" indent="-239970" lvl="1">
              <a:lnSpc>
                <a:spcPts val="3556"/>
              </a:lnSpc>
              <a:buFont typeface="Arial"/>
              <a:buChar char="•"/>
            </a:pPr>
            <a:r>
              <a:rPr lang="en-US" sz="2222" spc="302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Cost Savings: First-pass review without a lawyer.</a:t>
            </a:r>
          </a:p>
          <a:p>
            <a:pPr algn="l" marL="479939" indent="-239970" lvl="1">
              <a:lnSpc>
                <a:spcPts val="3556"/>
              </a:lnSpc>
              <a:buFont typeface="Arial"/>
              <a:buChar char="•"/>
            </a:pPr>
            <a:r>
              <a:rPr lang="en-US" sz="2222" spc="302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Em</a:t>
            </a:r>
            <a:r>
              <a:rPr lang="en-US" sz="2222" spc="302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powerment: Helps </a:t>
            </a:r>
            <a:r>
              <a:rPr lang="en-US" sz="2222" spc="302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SMEs negotiate better terms using "Safer Alternative" suggestions.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172950" y="0"/>
            <a:ext cx="6115050" cy="10287000"/>
          </a:xfrm>
          <a:prstGeom prst="rect">
            <a:avLst/>
          </a:prstGeom>
          <a:solidFill>
            <a:srgbClr val="6366F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1203284" y="1863406"/>
            <a:ext cx="6560188" cy="6560188"/>
          </a:xfrm>
          <a:custGeom>
            <a:avLst/>
            <a:gdLst/>
            <a:ahLst/>
            <a:cxnLst/>
            <a:rect r="r" b="b" t="t" l="l"/>
            <a:pathLst>
              <a:path h="6560188" w="6560188">
                <a:moveTo>
                  <a:pt x="0" y="0"/>
                </a:moveTo>
                <a:lnTo>
                  <a:pt x="6560187" y="0"/>
                </a:lnTo>
                <a:lnTo>
                  <a:pt x="6560187" y="6560188"/>
                </a:lnTo>
                <a:lnTo>
                  <a:pt x="0" y="6560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28025"/>
            <a:ext cx="9301279" cy="124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Fut</a:t>
            </a: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ure Roadmap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67928"/>
            <a:ext cx="930127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A0AEC0"/>
                </a:solidFill>
                <a:latin typeface="Fira Sans"/>
                <a:ea typeface="Fira Sans"/>
                <a:cs typeface="Fira Sans"/>
                <a:sym typeface="Fira Sans"/>
              </a:rPr>
              <a:t>F</a:t>
            </a:r>
            <a:r>
              <a:rPr lang="en-US" sz="2600">
                <a:solidFill>
                  <a:srgbClr val="A0AEC0"/>
                </a:solidFill>
                <a:latin typeface="Fira Sans"/>
                <a:ea typeface="Fira Sans"/>
                <a:cs typeface="Fira Sans"/>
                <a:sym typeface="Fira Sans"/>
              </a:rPr>
              <a:t>rom Analysis to Autonomous Legal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69800"/>
            <a:ext cx="9808340" cy="461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3360"/>
              </a:lnSpc>
              <a:buFont typeface="Arial"/>
              <a:buChar char="•"/>
            </a:pPr>
            <a:r>
              <a:rPr lang="en-US" sz="2100" spc="4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B</a:t>
            </a:r>
            <a:r>
              <a:rPr lang="en-US" sz="2100" spc="4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reaking literac</a:t>
            </a:r>
            <a:r>
              <a:rPr lang="en-US" sz="2100" spc="4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y</a:t>
            </a:r>
            <a:r>
              <a:rPr lang="en-US" sz="2100" spc="4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 barriers with Voice-to-Voice interaction (speak to the AI in Hindi/Tamil/Telugu to understand</a:t>
            </a:r>
            <a:r>
              <a:rPr lang="en-US" sz="2100" spc="4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 yo</a:t>
            </a:r>
            <a:r>
              <a:rPr lang="en-US" sz="2100" spc="4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ur rights).</a:t>
            </a:r>
          </a:p>
          <a:p>
            <a:pPr algn="l" marL="453392" indent="-226696" lvl="1">
              <a:lnSpc>
                <a:spcPts val="3360"/>
              </a:lnSpc>
              <a:buFont typeface="Arial"/>
              <a:buChar char="•"/>
            </a:pPr>
            <a:r>
              <a:rPr lang="en-US" sz="2100" spc="4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Moving beyond reading contracts to acting on them. The AI will draft email replies to counter-negotiate unfavorable terms automatically.</a:t>
            </a:r>
          </a:p>
          <a:p>
            <a:pPr algn="l" marL="453392" indent="-226696" lvl="1">
              <a:lnSpc>
                <a:spcPts val="3360"/>
              </a:lnSpc>
              <a:buFont typeface="Arial"/>
              <a:buChar char="•"/>
            </a:pPr>
            <a:r>
              <a:rPr lang="en-US" sz="2100" spc="4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Integrating Indian Case Law APIs (Kanoon/Manupatra) to predict if a specific clause would actually hold up in court.</a:t>
            </a:r>
          </a:p>
          <a:p>
            <a:pPr algn="l" marL="453392" indent="-226696" lvl="1">
              <a:lnSpc>
                <a:spcPts val="3360"/>
              </a:lnSpc>
              <a:buFont typeface="Arial"/>
              <a:buChar char="•"/>
            </a:pPr>
            <a:r>
              <a:rPr lang="en-US" sz="2100" spc="45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One-click connection to human lawyers for "Red Flag" clauses, creating a hybrid AI-Human safety net.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76325"/>
            <a:ext cx="8324850" cy="11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 </a:t>
            </a:r>
            <a:r>
              <a:rPr lang="en-US" sz="8000">
                <a:solidFill>
                  <a:srgbClr val="22C55E"/>
                </a:solidFill>
                <a:latin typeface="The Seasons"/>
                <a:ea typeface="The Seasons"/>
                <a:cs typeface="The Seasons"/>
                <a:sym typeface="The Seasons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096128" y="0"/>
            <a:ext cx="191872" cy="10287000"/>
            <a:chOff x="0" y="0"/>
            <a:chExt cx="5053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34" cy="2709333"/>
            </a:xfrm>
            <a:custGeom>
              <a:avLst/>
              <a:gdLst/>
              <a:ahLst/>
              <a:cxnLst/>
              <a:rect r="r" b="b" t="t" l="l"/>
              <a:pathLst>
                <a:path h="2709333" w="50534">
                  <a:moveTo>
                    <a:pt x="0" y="0"/>
                  </a:moveTo>
                  <a:lnTo>
                    <a:pt x="50534" y="0"/>
                  </a:lnTo>
                  <a:lnTo>
                    <a:pt x="5053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AEC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053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57275" y="4060547"/>
            <a:ext cx="15815056" cy="3906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3078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Nyaya Sahayak isn't just an analysis tool; it is the bridge between complex legislation and business aspiration, empowering every Indian SME with the legal intelligence of a top-tier firm.</a:t>
            </a:r>
          </a:p>
          <a:p>
            <a:pPr algn="l">
              <a:lnSpc>
                <a:spcPts val="3385"/>
              </a:lnSpc>
            </a:pPr>
          </a:p>
          <a:p>
            <a:pPr algn="l">
              <a:lnSpc>
                <a:spcPts val="3385"/>
              </a:lnSpc>
            </a:pPr>
          </a:p>
          <a:p>
            <a:pPr algn="l">
              <a:lnSpc>
                <a:spcPts val="3385"/>
              </a:lnSpc>
            </a:pPr>
          </a:p>
          <a:p>
            <a:pPr algn="l">
              <a:lnSpc>
                <a:spcPts val="3385"/>
              </a:lnSpc>
            </a:pP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3078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Links: 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3078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https://github.com/titir232004/Contract-Analysis-Risk-Assessment-Bot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DAG8saGcRF0</dc:identifier>
  <dcterms:modified xsi:type="dcterms:W3CDTF">2011-08-01T06:04:30Z</dcterms:modified>
  <cp:revision>1</cp:revision>
  <dc:title>Nyaya Sahayak</dc:title>
</cp:coreProperties>
</file>